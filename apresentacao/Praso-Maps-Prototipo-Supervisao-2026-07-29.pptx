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 min). "Praso Maps é o nome do produto; CRM Externo é o nome do projeto/repositório."
Enquadramento: hoje é o GATE do protótipo — fim da Fase 2 das 6 quinzenas do KR 1.5. O objetivo não é aprovar telas bonitas, é decidir se seguimos construindo o produto real.
Dizer de saída: o app já está instalável no celular e por padrão mostra DADO FICTÍCIO; com login @praso.com.br ele passa a mostrar os 6.914 leads reais do Salesforce (só exibição).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explícito o pedido antes de qualquer slide de conteúdo — supervisão precisa saber o que se espera dela no fim.
Se alguém perguntar "isso já é o produto?": não. É protótipo — casca. Tudo que vamos ver funciona, mas ainda em memória do navegador; persistência, login por carteira e automações entram com o banco (Fases 4 e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a história da rota do Pedro: saiu frustrado de manhã porque NÃO fez a rota pelo Google. Deixar claro que o problema não é higiene de dado — a higienização do Salesforce foi feita (coordenada, foto, criação de pin pelo celular) e a plataforma continuou não atendendo. É limitação estrutural.
Se Luiz levantar qualidade do dado: é exatamente o risco nº1 e vamos falar dele no fim (slide de riscos).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no máximo uma citação em voz alta — as outras deixar para eles lerem. O ponto que quero que fique: a fuga para o Google Maps não é indisciplina, é sintoma.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slide-âncora: se a supervisão só levar um slide na cabeça, que seja este. Cada linha da direita é demonstrável ao vivo — e a demo segue exatamente esta ordem.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ordem é decisão registrada no KR, não improviso. Pedir concordância explícita: "essa ordem de corte faz sentido para vocês?" — se a supervisão quiser Performance acima de Gerencial, é agora que eu preciso saber.
Explicar casca × motor com uma frase: "hoje você arrasta o card e ele fica onde você deixou; quando o banco subir, ele fica onde você deixou para todo mundo".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amaciar as respostas. A força do PR-FAQ é admitir o que é verdade: o matching VAI errar às vezes; adoção é o maior risco. Supervisão respeita mais isso do que promessa.
Se perguntarem sobre offline: o app precisa de internet no lançamento — trade-off aceito, medido no piloto (está no slide de riscos).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da "arma de cobrança" é a que decide adoção. Responder olhando para a supervisão: a visibilidade é objetivo do produto, e as travas são o que impedem que ela vire só painel de cobrança.
Estas travas viram requisito no PRD — não são boa intenção.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expectativa — é aqui que se evita frustração em setembro. Ler em voz alta os dois itens que mais costumam ser pedidos: otimização de rota e Performance do vendedor.
Sobre rota: a decisão consciente é handoff para o Google (navegação é dele); nós decidimos PARA ONDE ir, ele leva.
Sobre Admin: adiado pós-KR; RLS/papéis seguem no banco como segurança, o que falta é a tela de configuração.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existe para a demo não ser confundida com produto pronto. Dizer a frase: "nada disso está gravado em banco ainda — é casca; o que estamos aprovando é a forma, não a persistência".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supervisão quiser mudar a ordem, a janela é a Fase 3 — depois do banco de pé, mexer em prioridade custa mais.
Pedir aqui o compromisso da Fase 4: um vendedor por zona (PE e CE) para usar de verdade, não para testar.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COMEÇAR — checklist:
· Celular carregado, espelhado na tela, brilho alto, rotação travada em retrato.
· Abrir o app instalado (não o navegador) para mostrar que é PWA.
· Tocar em ⟲ (topo direito) para resetar o estado da demo e começar limpo.
· Decidir o modo: comece no FICTÍCIO (61 pins, tudo coerente) e deixe o dado real para o momento 5.
· Deixar este slide projetado enquanto eles instalam pelo QR (~1 min).
CUIDADOS no modo real (se abrir):
· Não abra o filtro de Zona — o snapshot em disco ainda foi gerado com a coluna antiga (zona_2_c) e joga 5.183 dos 6.914 pins em "Sem Zona".
· Os chips MEI e churn aparecem zerados de propósito: MEI está fora do recorte do snapshot e churn não tem fonte no salesforce.lead.
· As atividades do modo real são simuladas — o app avisa em faixa âmbar. Diga isso antes que alguém pergunte.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a pista do degrau MAIS ALTO aparece: um pin com ✓ também tem CNPJ e Google. A escada é aditiva.
Corolário que a supervisão gosta: check-in troca a PISTA, nunca a cor. O pin só fica azul quando o ERP disser que virou cliente — vendedor não decide conversão.
Se perguntarem "por que a cor mudou de significado?": antes a cor era a origem; percebemos que o degrau de origem não pode depender de matiz (e a pergunta que se faz da calçada é "já é cliente?").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preset Aquisição = porte ≠ MEI · qualidade Ouro ou Prata · status do cliente lead/csc/churn · fora de perdido e desqualificado.
O badge de Filtros mostra 17, não 1: são 17 chips ativos de verdade (2 de qualidade + 3 de status do cliente + 6 de fase + 6 de porte). Contar 1 seria mentir sobre o que está aplicado.
Detalhe que vale contar: o pin criado na rua nasce sem porte (o porte chega via CNPJá) e estava escapando da lista de aquisição — entrou o chip "Sem porte". Regra que ficou: dimensão que aceita vazio precisa de balde com nome, senão o pin sai do recorte em silêncio.
Zona é vocabulário fechado: as 15 zonas da operação + Sem Zona, e os 16 chips aparecem sempre, mesmo vazios — vocês veem a lista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Classificação nunca é digitada: qualidade vem do CNAE (tabela cnae_tier), porte vem do CNPJá, status do cliente é derivado. O formulário de criação pede só nome + local, com um "mais detalhes" opcional (tipologia, CNPJ, telefone).
Não existe botão de excluir — de propósito.
Se pedirem foto: fotos (fachada, cardápio, comprovação) e proximidade por GPS entram na Fase 3. Hoje o check-in não valida distância.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é o pipeline de TRABALHO, não a base: o pin entra no board quando ganha visita planejada e sai se o plano for cancelado. Por isso a contagem do Funil DIVERGE da do mapa — é o comportamento correto, não bug. Vale avisar antes que alguém aponte: no dataset fictício o mapa mostra 61 locais e o board mostra "48 no pipeline · 13 sem plano".
Etapas: sem plano (fora do board) ⇄ visita planejada → visitado → TD encontrado → CSC → aquisição, + perdido e desqualificado como saídas laterais.
Aquisição é sticky: depois dela, a saúde do cliente vive no status do cliente (lead, csc, recorrente, churn).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a demo aqui e, se houver tempo, mostrar o modo REAL: login @praso.com.br → 6.914 leads do Salesforce, 177 marcados como cadastrados. Só exibição, campos minimizados por LGPD (sem decisor, sócios ou telefone de pessoa física).
Cuidados do modo real: não abrir o filtro de Zona (snapshot gerado com a coluna antiga); MEI e churn zerados de propósito; as atividades são simuladas e o app avisa em faixa âmbar.
Perder ≠ desqualificar: mesma mecânica, dois vocabulários fechados de motivo. A negociação morreu × o ponto não é oportunidade. A diferença vive no motivo, e é o que permite reenriquecer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Colocar os riscos na mesa antes que a supervisão os encontre — é o que sustenta a credibilidade do resto.
Se Luiz puxar qualidade do dado: o critério de aceite do matching (qual taxa de falso positivo barra a expansão, quem revisa) é uma decisão que precisa fechar ANTES da Fase 3. Pedir a opinião dele ali mesmo.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terminar em "obrigada" — terminar pedindo a decisão. Se não houver decisão na sala, marcar data: o gate é a métrica de sucesso da Fase 2 e ele trava a Fase 3.
Se a resposta for "sim, mas": anotar o "mas" como item de backlog com dono e fase, na frente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960120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2053C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60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Praso Maps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do mapa · CRM Externo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66928" y="3154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de gestão comercial de campo — com o mapa no centro.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3794760"/>
            <a:ext cx="1298448" cy="310896"/>
          </a:xfrm>
          <a:prstGeom prst="roundRect">
            <a:avLst>
              <a:gd name="adj" fmla="val 147059"/>
            </a:avLst>
          </a:prstGeom>
          <a:solidFill>
            <a:srgbClr val="1E2C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79476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Mapa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993392" y="3794760"/>
            <a:ext cx="1847088" cy="310896"/>
          </a:xfrm>
          <a:prstGeom prst="roundRect">
            <a:avLst>
              <a:gd name="adj" fmla="val 147059"/>
            </a:avLst>
          </a:prstGeom>
          <a:solidFill>
            <a:srgbClr val="1E2C55"/>
          </a:solidFill>
          <a:ln/>
        </p:spPr>
      </p:sp>
      <p:sp>
        <p:nvSpPr>
          <p:cNvPr id="10" name="Text 8"/>
          <p:cNvSpPr/>
          <p:nvPr/>
        </p:nvSpPr>
        <p:spPr>
          <a:xfrm>
            <a:off x="1993392" y="379476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Inteligência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68496" y="3794760"/>
            <a:ext cx="1207008" cy="310896"/>
          </a:xfrm>
          <a:prstGeom prst="roundRect">
            <a:avLst>
              <a:gd name="adj" fmla="val 147059"/>
            </a:avLst>
          </a:prstGeom>
          <a:solidFill>
            <a:srgbClr val="1E2C55"/>
          </a:solidFill>
          <a:ln/>
        </p:spPr>
      </p:sp>
      <p:sp>
        <p:nvSpPr>
          <p:cNvPr id="12" name="Text 10"/>
          <p:cNvSpPr/>
          <p:nvPr/>
        </p:nvSpPr>
        <p:spPr>
          <a:xfrm>
            <a:off x="3968496" y="379476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Funil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03520" y="3794760"/>
            <a:ext cx="1691640" cy="310896"/>
          </a:xfrm>
          <a:prstGeom prst="roundRect">
            <a:avLst>
              <a:gd name="adj" fmla="val 147059"/>
            </a:avLst>
          </a:prstGeom>
          <a:solidFill>
            <a:srgbClr val="1E2C55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379476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Atividades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513892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às Supervisões Comerciais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" y="547725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Tatiana Aires · RevOps / Planejamento · 29 de julho de 2026 · KR 1.5, fim da Fase 2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549640" y="960120"/>
            <a:ext cx="2788920" cy="4937760"/>
          </a:xfrm>
          <a:prstGeom prst="roundRect">
            <a:avLst>
              <a:gd name="adj" fmla="val 2951"/>
            </a:avLst>
          </a:prstGeom>
          <a:solidFill>
            <a:srgbClr val="1E2C55"/>
          </a:solidFill>
          <a:ln w="19050">
            <a:solidFill>
              <a:srgbClr val="3244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77656" y="1143000"/>
            <a:ext cx="2532888" cy="4572000"/>
          </a:xfrm>
          <a:prstGeom prst="roundRect">
            <a:avLst>
              <a:gd name="adj" fmla="val 2166"/>
            </a:avLst>
          </a:prstGeom>
          <a:solidFill>
            <a:srgbClr val="E9EDF3"/>
          </a:solidFill>
          <a:ln/>
        </p:spPr>
      </p:sp>
      <p:sp>
        <p:nvSpPr>
          <p:cNvPr id="19" name="Shape 17"/>
          <p:cNvSpPr/>
          <p:nvPr/>
        </p:nvSpPr>
        <p:spPr>
          <a:xfrm>
            <a:off x="8677656" y="1143000"/>
            <a:ext cx="253288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787384" y="1143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CRM Externo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87000" y="11430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locais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787384" y="1618488"/>
            <a:ext cx="960120" cy="237744"/>
          </a:xfrm>
          <a:prstGeom prst="roundRect">
            <a:avLst>
              <a:gd name="adj" fmla="val 192308"/>
            </a:avLst>
          </a:prstGeom>
          <a:solidFill>
            <a:srgbClr val="FBF1D8"/>
          </a:solidFill>
          <a:ln/>
        </p:spPr>
      </p:sp>
      <p:sp>
        <p:nvSpPr>
          <p:cNvPr id="23" name="Text 21"/>
          <p:cNvSpPr/>
          <p:nvPr/>
        </p:nvSpPr>
        <p:spPr>
          <a:xfrm>
            <a:off x="8787384" y="161848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Aquisição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811512" y="1618488"/>
            <a:ext cx="1097280" cy="237744"/>
          </a:xfrm>
          <a:prstGeom prst="roundRect">
            <a:avLst>
              <a:gd name="adj" fmla="val 192308"/>
            </a:avLst>
          </a:prstGeom>
          <a:solidFill>
            <a:srgbClr val="E8EFFC"/>
          </a:solidFill>
          <a:ln/>
        </p:spPr>
      </p:sp>
      <p:sp>
        <p:nvSpPr>
          <p:cNvPr id="25" name="Text 23"/>
          <p:cNvSpPr/>
          <p:nvPr/>
        </p:nvSpPr>
        <p:spPr>
          <a:xfrm>
            <a:off x="9811512" y="16184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Classificação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052560" y="2377440"/>
            <a:ext cx="237744" cy="237744"/>
          </a:xfrm>
          <a:prstGeom prst="ellipse">
            <a:avLst/>
          </a:prstGeom>
          <a:solidFill>
            <a:srgbClr val="2053C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F172A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37599" y="2462479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784080" y="2103120"/>
            <a:ext cx="237744" cy="23774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  <a:prstDash val="dash"/>
          </a:ln>
          <a:effectLst>
            <a:outerShdw sx="100000" sy="100000" kx="0" ky="0" algn="bl" rotWithShape="0" blurRad="63500" dist="12700" dir="5400000">
              <a:srgbClr val="0F172A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69119" y="2188159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15600" y="2560320"/>
            <a:ext cx="237744" cy="237744"/>
          </a:xfrm>
          <a:prstGeom prst="ellipse">
            <a:avLst/>
          </a:prstGeom>
          <a:solidFill>
            <a:srgbClr val="A78BF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F172A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600639" y="2645359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418320" y="3108960"/>
            <a:ext cx="237744" cy="237744"/>
          </a:xfrm>
          <a:prstGeom prst="ellipse">
            <a:avLst/>
          </a:prstGeom>
          <a:solidFill>
            <a:srgbClr val="2053C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F172A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503359" y="3193999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32720" y="3474720"/>
            <a:ext cx="237744" cy="23774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  <a:prstDash val="dash"/>
          </a:ln>
          <a:effectLst>
            <a:outerShdw sx="100000" sy="100000" kx="0" ky="0" algn="bl" rotWithShape="0" blurRad="63500" dist="12700" dir="5400000">
              <a:srgbClr val="0F172A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417759" y="3559759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789920" y="2971800"/>
            <a:ext cx="237744" cy="237744"/>
          </a:xfrm>
          <a:prstGeom prst="ellipse">
            <a:avLst/>
          </a:prstGeom>
          <a:solidFill>
            <a:srgbClr val="2053C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F172A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874959" y="3056839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9098280" y="3840480"/>
            <a:ext cx="237744" cy="237744"/>
          </a:xfrm>
          <a:prstGeom prst="ellipse">
            <a:avLst/>
          </a:prstGeom>
          <a:solidFill>
            <a:srgbClr val="A78BF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F172A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183319" y="3925519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9966960" y="4251960"/>
            <a:ext cx="237744" cy="237744"/>
          </a:xfrm>
          <a:prstGeom prst="ellipse">
            <a:avLst/>
          </a:prstGeom>
          <a:solidFill>
            <a:srgbClr val="2053C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F172A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051999" y="4336999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52760" y="4023360"/>
            <a:ext cx="237744" cy="237744"/>
          </a:xfrm>
          <a:prstGeom prst="ellipse">
            <a:avLst/>
          </a:prstGeom>
          <a:solidFill>
            <a:srgbClr val="A78BF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F172A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0737799" y="4108399"/>
            <a:ext cx="68580" cy="685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8677656" y="5120640"/>
            <a:ext cx="2532888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677656" y="512064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🗺️      📋      📊      🗓️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65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ESTAMOS AQUI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preciso de vocês hoje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847088"/>
            <a:ext cx="6903720" cy="1170432"/>
          </a:xfrm>
          <a:prstGeom prst="roundRect">
            <a:avLst>
              <a:gd name="adj" fmla="val 7813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176272"/>
            <a:ext cx="502920" cy="502920"/>
          </a:xfrm>
          <a:prstGeom prst="ellipse">
            <a:avLst/>
          </a:prstGeom>
          <a:solidFill>
            <a:srgbClr val="2053CE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Sentir o produto na mão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37744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Instalem no celular e usem durante a demo. Por padrão o app mostra dado fictício; com login @praso.com.br ele mostra o dado real do Salesforce.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163824"/>
            <a:ext cx="6903720" cy="1170432"/>
          </a:xfrm>
          <a:prstGeom prst="roundRect">
            <a:avLst>
              <a:gd name="adj" fmla="val 7813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9536" y="3493008"/>
            <a:ext cx="502920" cy="502920"/>
          </a:xfrm>
          <a:prstGeom prst="ellipse">
            <a:avLst/>
          </a:prstGeom>
          <a:solidFill>
            <a:srgbClr val="2053CE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34670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se resolve a dor de campo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3694176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quero impressão geral — quero resposta a quatro perguntas dirigidas, que estão no último slide.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480560"/>
            <a:ext cx="6903720" cy="1170432"/>
          </a:xfrm>
          <a:prstGeom prst="roundRect">
            <a:avLst>
              <a:gd name="adj" fmla="val 7813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4809744"/>
            <a:ext cx="502920" cy="502920"/>
          </a:xfrm>
          <a:prstGeom prst="ellipse">
            <a:avLst/>
          </a:prstGeom>
          <a:solidFill>
            <a:srgbClr val="2053CE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4809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466344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o sinal verde formal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5010912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seguir para a construção do produto real. Esta aprovação é a métrica de gate do KR 1.5.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18120" y="1847088"/>
            <a:ext cx="3803904" cy="3767328"/>
          </a:xfrm>
          <a:prstGeom prst="roundRect">
            <a:avLst>
              <a:gd name="adj" fmla="val 242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38160" y="20848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138160" y="2578608"/>
            <a:ext cx="329184" cy="329184"/>
          </a:xfrm>
          <a:prstGeom prst="ellipse">
            <a:avLst/>
          </a:prstGeom>
          <a:solidFill>
            <a:srgbClr val="1E2C55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0" y="2560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dores atacadas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3127248"/>
            <a:ext cx="329184" cy="329184"/>
          </a:xfrm>
          <a:prstGeom prst="ellipse">
            <a:avLst/>
          </a:prstGeom>
          <a:solidFill>
            <a:srgbClr val="1E2C55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95360" y="3108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valor (KR 1.5)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38160" y="3675888"/>
            <a:ext cx="329184" cy="329184"/>
          </a:xfrm>
          <a:prstGeom prst="ellipse">
            <a:avLst/>
          </a:prstGeom>
          <a:solidFill>
            <a:srgbClr val="1E2C55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0" y="3657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perguntas do vendedor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38160" y="4224528"/>
            <a:ext cx="329184" cy="329184"/>
          </a:xfrm>
          <a:prstGeom prst="ellipse">
            <a:avLst/>
          </a:prstGeom>
          <a:solidFill>
            <a:srgbClr val="1E2C55"/>
          </a:solidFill>
          <a:ln/>
        </p:spPr>
      </p:sp>
      <p:sp>
        <p:nvSpPr>
          <p:cNvPr id="31" name="Text 29"/>
          <p:cNvSpPr/>
          <p:nvPr/>
        </p:nvSpPr>
        <p:spPr>
          <a:xfrm>
            <a:off x="8138160" y="4224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95360" y="4206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vai ter e o que não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138160" y="4773168"/>
            <a:ext cx="329184" cy="329184"/>
          </a:xfrm>
          <a:prstGeom prst="ellipse">
            <a:avLst/>
          </a:prstGeom>
          <a:solidFill>
            <a:srgbClr val="1E2C55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0" y="4773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95360" y="4754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ao vivo no celular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38160" y="5230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25 min de conversa + 12 min de demo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LEVANTADO EM ROTA, COM VENDEDOR, EM PE E 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quatro dores que o produto ataca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2084832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77824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87168" y="210312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que cai em endereço vazio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87168" y="2615184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FB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planejadas pelo Salesforce caíam em endereço vazio, casa ou estabelecimento fechado em definitivo — as melhores rotas eram as feitas por fora, no Google Maps.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74536" y="2121408"/>
            <a:ext cx="566928" cy="56692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1" name="Text 9"/>
          <p:cNvSpPr/>
          <p:nvPr/>
        </p:nvSpPr>
        <p:spPr>
          <a:xfrm>
            <a:off x="6574536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000000"/>
                </a:solidFill>
              </a:rPr>
              <a:t>🔍</a:t>
            </a:r>
            <a:endParaRPr lang="en-US" sz="1364" dirty="0"/>
          </a:p>
        </p:txBody>
      </p:sp>
      <p:sp>
        <p:nvSpPr>
          <p:cNvPr id="12" name="Text 10"/>
          <p:cNvSpPr/>
          <p:nvPr/>
        </p:nvSpPr>
        <p:spPr>
          <a:xfrm>
            <a:off x="7287768" y="2103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por pin para achar padaria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87768" y="254203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filtro simples: para ver o tamanho real da oportunidade numa região é preciso empilhar camadas complementares.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8862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4178808"/>
            <a:ext cx="566928" cy="56692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4178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000000"/>
                </a:solidFill>
              </a:rPr>
              <a:t>🗒️</a:t>
            </a:r>
            <a:endParaRPr lang="en-US" sz="1364" dirty="0"/>
          </a:p>
        </p:txBody>
      </p:sp>
      <p:sp>
        <p:nvSpPr>
          <p:cNvPr id="17" name="Text 15"/>
          <p:cNvSpPr/>
          <p:nvPr/>
        </p:nvSpPr>
        <p:spPr>
          <a:xfrm>
            <a:off x="1591056" y="41605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por fora do sistema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91056" y="459943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vendedor se organiza em agenda física ou grupo de WhatsApp. Ninguém sabe quem visitou o quê, nem o que está em negociação.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74536" y="4178808"/>
            <a:ext cx="566928" cy="56692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1" name="Text 19"/>
          <p:cNvSpPr/>
          <p:nvPr/>
        </p:nvSpPr>
        <p:spPr>
          <a:xfrm>
            <a:off x="6574536" y="4178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000000"/>
                </a:solidFill>
              </a:rPr>
              <a:t>👻</a:t>
            </a:r>
            <a:endParaRPr lang="en-US" sz="1364" dirty="0"/>
          </a:p>
        </p:txBody>
      </p:sp>
      <p:sp>
        <p:nvSpPr>
          <p:cNvPr id="22" name="Text 20"/>
          <p:cNvSpPr/>
          <p:nvPr/>
        </p:nvSpPr>
        <p:spPr>
          <a:xfrm>
            <a:off x="7287768" y="41605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que desaparece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87768" y="459943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do pin fica escondida fora da camada ativa — e só se sabe se o estabelecimento já existe na base caçando pela razão social.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5989320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rotas acompanhadas com vendedores de Pernambuco e Ceará na Fase 1 (jul/2026). O número é estimativa observada em campo, não métrica auditada.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DA FASE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palavras de quem está na rua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538728" cy="3063240"/>
          </a:xfrm>
          <a:prstGeom prst="roundRect">
            <a:avLst>
              <a:gd name="adj" fmla="val 2985"/>
            </a:avLst>
          </a:prstGeom>
          <a:solidFill>
            <a:srgbClr val="16234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77824" y="2542032"/>
            <a:ext cx="2916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“Muitos pinos estão fora do lugar ou apontam para residências, então acabo utilizando o Google Maps e o iFood para localizar os clientes e montar uma rota mais eficiente.”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4315968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4572000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executivo externo · 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874520"/>
            <a:ext cx="3538728" cy="3063240"/>
          </a:xfrm>
          <a:prstGeom prst="roundRect">
            <a:avLst>
              <a:gd name="adj" fmla="val 2985"/>
            </a:avLst>
          </a:prstGeom>
          <a:solidFill>
            <a:srgbClr val="16234A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681728" y="2542032"/>
            <a:ext cx="2916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“Temos um volume gigante de dados e oportunidades, mas é extremamente difícil transformar isso em rotas eficientes sem recorrer ao Metabase ou ao Google Maps.”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4315968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4572000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externo · 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74736" y="1874520"/>
            <a:ext cx="3538728" cy="3063240"/>
          </a:xfrm>
          <a:prstGeom prst="roundRect">
            <a:avLst>
              <a:gd name="adj" fmla="val 2985"/>
            </a:avLst>
          </a:prstGeom>
          <a:solidFill>
            <a:srgbClr val="162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449056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8485632" y="2542032"/>
            <a:ext cx="2916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“Ficamos reféns das funcionalidades nativas: não conseguimos adicionar filtros ao mapa, nem atualizar a relação entre zona, vendedor e polígono de forma fácil.”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85632" y="4315968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85632" y="4572000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RevOps · Praso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5440680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é o mesmo em campo e no planejamento: a ferramenta oficial não sustenta a decisão do dia, e a operação migra para fora dela.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65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→ RESPOSTA DO PRODUTO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muda, dor por dor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7839" cy="960120"/>
          </a:xfrm>
          <a:prstGeom prst="roundRect">
            <a:avLst>
              <a:gd name="adj" fmla="val 9524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37944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que cai em endereço vazio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94176" y="1837944"/>
            <a:ext cx="365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51376" y="19110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e confiança na cara do pin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51376" y="2221992"/>
            <a:ext cx="7269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 diz a relação comercial (azul = cliente, lilás = lead) e a pista de forma diz de onde vem o dado: tracejado = base de CNPJ · G = enriquecido pelo Google · ✓ = validado em campo. Quem ocupa o topo da escada é o vendedor.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871216"/>
            <a:ext cx="11057839" cy="960120"/>
          </a:xfrm>
          <a:prstGeom prst="roundRect">
            <a:avLst>
              <a:gd name="adj" fmla="val 9524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926080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por pin para achar padaria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94176" y="2926080"/>
            <a:ext cx="365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51376" y="29992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simples e combinável, com atalhos no mapa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51376" y="3310128"/>
            <a:ext cx="7269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dimensões (tipologia, zona, qualidade, porte, origem, fase, status do cliente, última visita) e três atalhos fixos. 🏆 Aquisição liga quatro filtros de uma vez e isola oportunidade real.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959352"/>
            <a:ext cx="11057839" cy="960120"/>
          </a:xfrm>
          <a:prstGeom prst="roundRect">
            <a:avLst>
              <a:gd name="adj" fmla="val 9524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014216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por fora do sistema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94176" y="4014216"/>
            <a:ext cx="365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51376" y="4087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Funil, agenda e atividades dentro do app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51376" y="4398264"/>
            <a:ext cx="7269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visita é uma tarefa datada: agendar, check-in, check-out com desfecho. E a fase do funil nunca é digitada — vem da tarefa concluída e do ERP.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5047488"/>
            <a:ext cx="11057839" cy="960120"/>
          </a:xfrm>
          <a:prstGeom prst="roundRect">
            <a:avLst>
              <a:gd name="adj" fmla="val 9524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102352"/>
            <a:ext cx="2788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que desaparece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94176" y="5102352"/>
            <a:ext cx="365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51376" y="51755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sempre visível e o pin que nunca some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51376" y="5486400"/>
            <a:ext cx="7269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notas do estabelecimento não se escondem atrás de camada. Desqualificar é estado revisável, não exclusão — no protótipo não existe botão de excluir.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1.5 · §2.1 — A ORDEM MANDA NO CORTE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valor, por prioridade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57839" cy="749808"/>
          </a:xfrm>
          <a:prstGeom prst="roundRect">
            <a:avLst>
              <a:gd name="adj" fmla="val 12195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92224"/>
            <a:ext cx="420624" cy="420624"/>
          </a:xfrm>
          <a:prstGeom prst="ellipse">
            <a:avLst/>
          </a:prstGeom>
          <a:solidFill>
            <a:srgbClr val="2053C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66420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funcional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270248" y="1664208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tudo que orbita a visita: rota, check-in/out, mover e corrigir pin, criar lead, notas e filtros.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835847" y="1837944"/>
            <a:ext cx="2560320" cy="329184"/>
          </a:xfrm>
          <a:prstGeom prst="roundRect">
            <a:avLst>
              <a:gd name="adj" fmla="val 138889"/>
            </a:avLst>
          </a:prstGeom>
          <a:solidFill>
            <a:srgbClr val="E8EFFC"/>
          </a:solidFill>
          <a:ln/>
        </p:spPr>
      </p:sp>
      <p:sp>
        <p:nvSpPr>
          <p:cNvPr id="10" name="Text 8"/>
          <p:cNvSpPr/>
          <p:nvPr/>
        </p:nvSpPr>
        <p:spPr>
          <a:xfrm>
            <a:off x="8835847" y="183794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pé no protótipo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11057839" cy="749808"/>
          </a:xfrm>
          <a:prstGeom prst="roundRect">
            <a:avLst>
              <a:gd name="adj" fmla="val 12195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615184"/>
            <a:ext cx="420624" cy="420624"/>
          </a:xfrm>
          <a:prstGeom prst="ellipse">
            <a:avLst/>
          </a:prstGeom>
          <a:solidFill>
            <a:srgbClr val="2053CE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48716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Funil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270248" y="2487168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por etapa para o vendedor planejar a semana com critério.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35847" y="2660904"/>
            <a:ext cx="2560320" cy="329184"/>
          </a:xfrm>
          <a:prstGeom prst="roundRect">
            <a:avLst>
              <a:gd name="adj" fmla="val 138889"/>
            </a:avLst>
          </a:prstGeom>
          <a:solidFill>
            <a:srgbClr val="E8EFFC"/>
          </a:solidFill>
          <a:ln/>
        </p:spPr>
      </p:sp>
      <p:sp>
        <p:nvSpPr>
          <p:cNvPr id="17" name="Text 15"/>
          <p:cNvSpPr/>
          <p:nvPr/>
        </p:nvSpPr>
        <p:spPr>
          <a:xfrm>
            <a:off x="8835847" y="266090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 de pé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273552"/>
            <a:ext cx="11057839" cy="749808"/>
          </a:xfrm>
          <a:prstGeom prst="roundRect">
            <a:avLst>
              <a:gd name="adj" fmla="val 12195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3438144"/>
            <a:ext cx="420624" cy="420624"/>
          </a:xfrm>
          <a:prstGeom prst="ellipse">
            <a:avLst/>
          </a:prstGeom>
          <a:solidFill>
            <a:srgbClr val="2053CE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31012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Inteligência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270248" y="3310128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buscável por nome, razão social ou CNPJ, com os mesmos filtros do mapa.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35847" y="3483864"/>
            <a:ext cx="2560320" cy="329184"/>
          </a:xfrm>
          <a:prstGeom prst="roundRect">
            <a:avLst>
              <a:gd name="adj" fmla="val 138889"/>
            </a:avLst>
          </a:prstGeom>
          <a:solidFill>
            <a:srgbClr val="E8EFFC"/>
          </a:solidFill>
          <a:ln/>
        </p:spPr>
      </p:sp>
      <p:sp>
        <p:nvSpPr>
          <p:cNvPr id="24" name="Text 22"/>
          <p:cNvSpPr/>
          <p:nvPr/>
        </p:nvSpPr>
        <p:spPr>
          <a:xfrm>
            <a:off x="8835847" y="34838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 de pé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096512"/>
            <a:ext cx="11057839" cy="749808"/>
          </a:xfrm>
          <a:prstGeom prst="roundRect">
            <a:avLst>
              <a:gd name="adj" fmla="val 12195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261104"/>
            <a:ext cx="420624" cy="420624"/>
          </a:xfrm>
          <a:prstGeom prst="ellipse">
            <a:avLst/>
          </a:prstGeom>
          <a:solidFill>
            <a:srgbClr val="2053CE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413308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gerencial de Tarefas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270248" y="4133088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ao lado da execução, por período, vendedor, tipo e check-in.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835847" y="4306824"/>
            <a:ext cx="2560320" cy="329184"/>
          </a:xfrm>
          <a:prstGeom prst="roundRect">
            <a:avLst>
              <a:gd name="adj" fmla="val 138889"/>
            </a:avLst>
          </a:prstGeom>
          <a:solidFill>
            <a:srgbClr val="E8EFFC"/>
          </a:solidFill>
          <a:ln/>
        </p:spPr>
      </p:sp>
      <p:sp>
        <p:nvSpPr>
          <p:cNvPr id="31" name="Text 29"/>
          <p:cNvSpPr/>
          <p:nvPr/>
        </p:nvSpPr>
        <p:spPr>
          <a:xfrm>
            <a:off x="8835847" y="43068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 de pé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4919472"/>
            <a:ext cx="11057839" cy="749808"/>
          </a:xfrm>
          <a:prstGeom prst="roundRect">
            <a:avLst>
              <a:gd name="adj" fmla="val 12195"/>
            </a:avLst>
          </a:prstGeom>
          <a:solidFill>
            <a:srgbClr val="FDF8EA"/>
          </a:solidFill>
          <a:ln w="12700">
            <a:solidFill>
              <a:srgbClr val="EBD9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" y="5084064"/>
            <a:ext cx="420624" cy="420624"/>
          </a:xfrm>
          <a:prstGeom prst="ellipse">
            <a:avLst/>
          </a:prstGeom>
          <a:solidFill>
            <a:srgbClr val="C9971B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71600" y="495604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do vendedor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4270248" y="4956048"/>
            <a:ext cx="4160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× realizado, produtividade, conversão por etapa e ranking.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835847" y="5129784"/>
            <a:ext cx="2560320" cy="329184"/>
          </a:xfrm>
          <a:prstGeom prst="roundRect">
            <a:avLst>
              <a:gd name="adj" fmla="val 138889"/>
            </a:avLst>
          </a:prstGeom>
          <a:solidFill>
            <a:srgbClr val="F6ECD2"/>
          </a:solidFill>
          <a:ln/>
        </p:spPr>
      </p:sp>
      <p:sp>
        <p:nvSpPr>
          <p:cNvPr id="38" name="Text 36"/>
          <p:cNvSpPr/>
          <p:nvPr/>
        </p:nvSpPr>
        <p:spPr>
          <a:xfrm>
            <a:off x="8835847" y="51297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— pode não entrar até 25/09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" y="5870448"/>
            <a:ext cx="11057839" cy="566928"/>
          </a:xfrm>
          <a:prstGeom prst="roundRect">
            <a:avLst>
              <a:gd name="adj" fmla="val 16129"/>
            </a:avLst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" y="587044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faltar tempo até 25/09, corta-se de baixo para cima. </a:t>
            </a:r>
            <a:pPr indent="0" marL="0">
              <a:buNone/>
            </a:pPr>
            <a:r>
              <a:rPr lang="en-US" sz="12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do topo é negociado para caber — e toda aba entra primeiro como casca (exibição) e ganha o motor (persistência e automação) depois do banco.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FAQ · NA VOZ DO VENDEDOR CÉTICO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perguntas que o Pedro vai fazer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40680" cy="1901952"/>
          </a:xfrm>
          <a:prstGeom prst="roundRect">
            <a:avLst>
              <a:gd name="adj" fmla="val 4808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70432" y="196596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me prometeram um sistema bom antes. Por que agora vai ser diferente?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262432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desconfiança é merecida. A diferença é método: o produto nasce das dores vistas em rota e chega em fatias — se uma fatia não resolver, isso aparece no piloto, antes de escalar.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440680" cy="1901952"/>
          </a:xfrm>
          <a:prstGeom prst="roundRect">
            <a:avLst>
              <a:gd name="adj" fmla="val 4808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67144" y="196596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o cruzamento CNPJá × Google errar? Paro na porta errada de novo.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67144" y="262432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errar às vezes. Por isso a incerteza aparece no pin em vez de se disfarçar de certeza — e o cruzamento passa por revisão manual no piloto antes de valer para todos.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941064"/>
            <a:ext cx="5440680" cy="1901952"/>
          </a:xfrm>
          <a:prstGeom prst="roundRect">
            <a:avLst>
              <a:gd name="adj" fmla="val 4808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412394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eu largaria o Google Maps, que eu domino?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4782312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larga para navegar: a rota abre no Google a partir do pin. O que o Google não sabe é qual ponto é lead, o que você anotou e quem está sem visita há 30 dias.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41064"/>
            <a:ext cx="5440680" cy="1901952"/>
          </a:xfrm>
          <a:prstGeom prst="roundRect">
            <a:avLst>
              <a:gd name="adj" fmla="val 4808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67144" y="412394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tempo eu perco para aprender isso? Quero vender, não operar sistema.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67144" y="4782312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precisar de treinamento longo, o produto falhou. Abrir o mapa da sua zona e filtrar padaria não tem manual — e a instalação é um link.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6053328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sete perguntas completas estão no PR-FAQ do Praso Maps (Notion · REVOPS).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FAQ · CONTINUAÇÃO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 as três mais desconfortáveis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03720" cy="1234440"/>
          </a:xfrm>
          <a:prstGeom prst="roundRect">
            <a:avLst>
              <a:gd name="adj" fmla="val 7407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3856" y="194767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vira ferramenta para me ajudar — ou arma de cobrança em cima de mim?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33856" y="2331720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enrolação: sim, seu check-in e sua cobertura ficam visíveis para a liderança, porque hoje a gestão cobra no escuro. O que muda são as travas — e elas estão escritas ao lado.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163824"/>
            <a:ext cx="6903720" cy="1234440"/>
          </a:xfrm>
          <a:prstGeom prst="roundRect">
            <a:avLst>
              <a:gd name="adj" fmla="val 7407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33856" y="332841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classificação ou o pin estiverem errados, eu corrijo na hora ou abro chamado?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33856" y="371246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hora. Você reclassifica a tipologia e arrasta o pin para o lugar certo — quem esteve lá é você. A régua é: quem vê, corrige.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544568"/>
            <a:ext cx="6903720" cy="1234440"/>
          </a:xfrm>
          <a:prstGeom prst="roundRect">
            <a:avLst>
              <a:gd name="adj" fmla="val 7407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727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470916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lead que eu desqualifiquei some para sempre? E se o cara reabrir o negócio?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33856" y="509320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some nunca. Desqualificar é status, não exclusão: o pin continua no mapa e volta ao jogo com o histórico inteiro — por você, pela liderança ou pelo inside sales.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8120" y="1783080"/>
            <a:ext cx="3803904" cy="3977640"/>
          </a:xfrm>
          <a:prstGeom prst="roundRect">
            <a:avLst>
              <a:gd name="adj" fmla="val 2404"/>
            </a:avLst>
          </a:prstGeom>
          <a:solidFill>
            <a:srgbClr val="2053CE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381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8160" y="254203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escrito do produto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138160" y="3310128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notas de campo pertencem primeiro ao vendedor.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check-in por proximidade é prova a favor dele, não vigilância.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ranking se compara por zona, para não punir quem pega a área mais difícil.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38160" y="5166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que violar isso não entra.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DO PRODUTO REAL · ATÉ 25/09/2026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vai ter — e o que não vai 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541264" cy="3977640"/>
          </a:xfrm>
          <a:prstGeom prst="roundRect">
            <a:avLst>
              <a:gd name="adj" fmla="val 2299"/>
            </a:avLst>
          </a:prstGeom>
          <a:solidFill>
            <a:srgbClr val="F2F6FF"/>
          </a:solidFill>
          <a:ln w="12700">
            <a:solidFill>
              <a:srgbClr val="D3E0FA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90195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Vai ter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59536" y="2340864"/>
            <a:ext cx="49560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36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de CNPJá e Google mesclados, com origem e confiança visíveis</a:t>
            </a:r>
            <a:endParaRPr lang="en-US" sz="1200" dirty="0"/>
          </a:p>
          <a:p>
            <a:pPr marL="342900" indent="-342900">
              <a:lnSpc>
                <a:spcPts val="1536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simples combinável + atalhos fixos no mapa</a:t>
            </a:r>
            <a:endParaRPr lang="en-US" sz="1200" dirty="0"/>
          </a:p>
          <a:p>
            <a:pPr marL="342900" indent="-342900">
              <a:lnSpc>
                <a:spcPts val="1536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com ficha, notas sempre visíveis e histórico de interações</a:t>
            </a:r>
            <a:endParaRPr lang="en-US" sz="1200" dirty="0"/>
          </a:p>
          <a:p>
            <a:pPr marL="342900" indent="-342900">
              <a:lnSpc>
                <a:spcPts val="1536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e corrigir pin com log de quem mudou, quando e de onde para onde</a:t>
            </a:r>
            <a:endParaRPr lang="en-US" sz="1200" dirty="0"/>
          </a:p>
          <a:p>
            <a:pPr marL="342900" indent="-342900">
              <a:lnSpc>
                <a:spcPts val="1536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Check-in/out com validação por proximidade e fotos (fachada, cardápio)</a:t>
            </a:r>
            <a:endParaRPr lang="en-US" sz="1200" dirty="0"/>
          </a:p>
          <a:p>
            <a:pPr marL="342900" indent="-342900">
              <a:lnSpc>
                <a:spcPts val="1536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(kanban + lista) e agenda de planejamento semanal</a:t>
            </a:r>
            <a:endParaRPr lang="en-US" sz="1200" dirty="0"/>
          </a:p>
          <a:p>
            <a:pPr marL="342900" indent="-342900">
              <a:lnSpc>
                <a:spcPts val="1536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gerencial: o plano ao lado da execução, por vendedor e período</a:t>
            </a:r>
            <a:endParaRPr lang="en-US" sz="1200" dirty="0"/>
          </a:p>
          <a:p>
            <a:pPr marL="342900" indent="-342900">
              <a:lnSpc>
                <a:spcPts val="1536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do dia simples: paradas, reordenar à mão e abrir no Google Maps</a:t>
            </a:r>
            <a:endParaRPr lang="en-US" sz="1200" dirty="0"/>
          </a:p>
          <a:p>
            <a:pPr marL="342900" indent="-342900">
              <a:lnSpc>
                <a:spcPts val="1536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próprio com acesso por carteira (RLS) e automações via n8n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28232" y="1737360"/>
            <a:ext cx="5541264" cy="3977640"/>
          </a:xfrm>
          <a:prstGeom prst="roundRect">
            <a:avLst>
              <a:gd name="adj" fmla="val 2299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190195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Não vai ter nesta KR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720840" y="2340864"/>
            <a:ext cx="49560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36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e sequenciamento automático de rota — só rota simples e manual</a:t>
            </a:r>
            <a:endParaRPr lang="en-US" sz="1200" dirty="0"/>
          </a:p>
          <a:p>
            <a:pPr marL="342900" indent="-342900">
              <a:lnSpc>
                <a:spcPts val="1536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e polígonos de território: heatmap e cobertura por zona</a:t>
            </a:r>
            <a:endParaRPr lang="en-US" sz="1200" dirty="0"/>
          </a:p>
          <a:p>
            <a:pPr marL="342900" indent="-342900">
              <a:lnSpc>
                <a:spcPts val="1536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Admin (usuários por tela, campos sem código) — adiado para depois da KR</a:t>
            </a:r>
            <a:endParaRPr lang="en-US" sz="1200" dirty="0"/>
          </a:p>
          <a:p>
            <a:pPr marL="342900" indent="-342900">
              <a:lnSpc>
                <a:spcPts val="1536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do vendedor: meta × realizado e ranking — stretch, pode não entrar</a:t>
            </a:r>
            <a:endParaRPr lang="en-US" sz="1200" dirty="0"/>
          </a:p>
          <a:p>
            <a:pPr marL="342900" indent="-342900">
              <a:lnSpc>
                <a:spcPts val="1536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offline: o app precisa de internet — trade-off aceito, medido no piloto</a:t>
            </a:r>
            <a:endParaRPr lang="en-US" sz="1200" dirty="0"/>
          </a:p>
          <a:p>
            <a:pPr marL="342900" indent="-342900">
              <a:lnSpc>
                <a:spcPts val="1536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crédito e probabilidade de conversão</a:t>
            </a:r>
            <a:endParaRPr lang="en-US" sz="1200" dirty="0"/>
          </a:p>
          <a:p>
            <a:pPr marL="342900" indent="-342900">
              <a:lnSpc>
                <a:spcPts val="1536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em lote dos desqualificados (fila de reenriquecimento)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5870448"/>
            <a:ext cx="11057839" cy="566928"/>
          </a:xfrm>
          <a:prstGeom prst="roundRect">
            <a:avLst>
              <a:gd name="adj" fmla="val 16129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587044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da coluna da direita é “nunca” — é “não nesta KR”. </a:t>
            </a:r>
            <a:pPr indent="0" marL="0">
              <a:buNone/>
            </a:pPr>
            <a:r>
              <a:rPr lang="en-US" sz="12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de fora entra no backlog priorizado do relatório de piloto (25/09).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 FASE 2 · O QUE A DEMO VAI MOSTRAR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está de pé — hoje, no protótipo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84448" cy="1700784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75104"/>
            <a:ext cx="475488" cy="47548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75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</a:rPr>
              <a:t>🗺️</a:t>
            </a:r>
            <a:endParaRPr lang="en-US" sz="1144" dirty="0"/>
          </a:p>
        </p:txBody>
      </p:sp>
      <p:sp>
        <p:nvSpPr>
          <p:cNvPr id="7" name="Text 5"/>
          <p:cNvSpPr/>
          <p:nvPr/>
        </p:nvSpPr>
        <p:spPr>
          <a:xfrm>
            <a:off x="1408176" y="197510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real, com cluster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3072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pins fictícios em Recife, Fortaleza e João Pessoa — e 6.914 leads reais do Salesforce quando há login.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7408" y="1737360"/>
            <a:ext cx="3584448" cy="1700784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975104"/>
            <a:ext cx="475488" cy="47548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975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</a:rPr>
              <a:t>🏆</a:t>
            </a:r>
            <a:endParaRPr lang="en-US" sz="1144" dirty="0"/>
          </a:p>
        </p:txBody>
      </p:sp>
      <p:sp>
        <p:nvSpPr>
          <p:cNvPr id="12" name="Text 10"/>
          <p:cNvSpPr/>
          <p:nvPr/>
        </p:nvSpPr>
        <p:spPr>
          <a:xfrm>
            <a:off x="5248656" y="197510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e atalhos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63440" y="2560320"/>
            <a:ext cx="3072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dimensões combináveis, três atalhos no mapa e o preset Aquisição, que isola 29 dos 61 pins.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47888" y="1737360"/>
            <a:ext cx="3584448" cy="1700784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1975104"/>
            <a:ext cx="475488" cy="47548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975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</a:rPr>
              <a:t>📌</a:t>
            </a:r>
            <a:endParaRPr lang="en-US" sz="1144" dirty="0"/>
          </a:p>
        </p:txBody>
      </p:sp>
      <p:sp>
        <p:nvSpPr>
          <p:cNvPr id="17" name="Text 15"/>
          <p:cNvSpPr/>
          <p:nvPr/>
        </p:nvSpPr>
        <p:spPr>
          <a:xfrm>
            <a:off x="9089136" y="197510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pin completo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03920" y="2560320"/>
            <a:ext cx="3072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Ficha, notas sempre visíveis, check-in/out com desfecho, mover pin e criar lead na rua.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694176"/>
            <a:ext cx="3584448" cy="1700784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931920"/>
            <a:ext cx="475488" cy="47548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</a:rPr>
              <a:t>📊</a:t>
            </a:r>
            <a:endParaRPr lang="en-US" sz="1144" dirty="0"/>
          </a:p>
        </p:txBody>
      </p:sp>
      <p:sp>
        <p:nvSpPr>
          <p:cNvPr id="22" name="Text 20"/>
          <p:cNvSpPr/>
          <p:nvPr/>
        </p:nvSpPr>
        <p:spPr>
          <a:xfrm>
            <a:off x="1408176" y="393192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kanban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517136"/>
            <a:ext cx="3072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colunas, arrastar card entre etapas e duas saídas laterais: perdido e desqualificado.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07408" y="3694176"/>
            <a:ext cx="3584448" cy="1700784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931920"/>
            <a:ext cx="475488" cy="47548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</a:rPr>
              <a:t>📋</a:t>
            </a:r>
            <a:endParaRPr lang="en-US" sz="1144" dirty="0"/>
          </a:p>
        </p:txBody>
      </p:sp>
      <p:sp>
        <p:nvSpPr>
          <p:cNvPr id="27" name="Text 25"/>
          <p:cNvSpPr/>
          <p:nvPr/>
        </p:nvSpPr>
        <p:spPr>
          <a:xfrm>
            <a:off x="5248656" y="393192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63440" y="4517136"/>
            <a:ext cx="3072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nome, razão social ou CNPJ, sobre o mesmo conjunto filtrado do mapa.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47888" y="3694176"/>
            <a:ext cx="3584448" cy="1700784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03920" y="3931920"/>
            <a:ext cx="475488" cy="47548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</a:rPr>
              <a:t>🗓️</a:t>
            </a:r>
            <a:endParaRPr lang="en-US" sz="1144" dirty="0"/>
          </a:p>
        </p:txBody>
      </p:sp>
      <p:sp>
        <p:nvSpPr>
          <p:cNvPr id="32" name="Text 30"/>
          <p:cNvSpPr/>
          <p:nvPr/>
        </p:nvSpPr>
        <p:spPr>
          <a:xfrm>
            <a:off x="9089136" y="393192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503920" y="4517136"/>
            <a:ext cx="3072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do vendedor com atrasadas no topo, e visão gerencial com gráficos e tabela detalhada.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5532120"/>
            <a:ext cx="11057839" cy="868680"/>
          </a:xfrm>
          <a:prstGeom prst="roundRect">
            <a:avLst>
              <a:gd name="adj" fmla="val 10526"/>
            </a:avLst>
          </a:prstGeom>
          <a:solidFill>
            <a:srgbClr val="FDF8EA"/>
          </a:solidFill>
          <a:ln w="12700">
            <a:solidFill>
              <a:srgbClr val="EBD9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" y="5532120"/>
            <a:ext cx="1047262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7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Casca × motor.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5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isso já se vê e se opera, mas o estado vive na memória do navegador — o app é protótipo, não produto. Persistência real, login por carteira (RLS), proximidade de GPS, fotos e automações entram com o banco, nas Fases 4 e 5. No modo real, as atividades são simuladas: nenhuma visita aconteceu (o próprio app avisa em faixa âmbar).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1.5 · UMA FATIA FUNCIONAL POR QUINZENA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chegamos até 25 de setembro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1764792" cy="3063240"/>
          </a:xfrm>
          <a:prstGeom prst="roundRect">
            <a:avLst>
              <a:gd name="adj" fmla="val 5181"/>
            </a:avLst>
          </a:prstGeom>
          <a:solidFill>
            <a:srgbClr val="F2F6FF"/>
          </a:solidFill>
          <a:ln w="12700">
            <a:solidFill>
              <a:srgbClr val="D3E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67712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06–17/07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435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em campo, benchmarks e o protótipo do mapa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4681728"/>
            <a:ext cx="1435608" cy="274320"/>
          </a:xfrm>
          <a:prstGeom prst="roundRect">
            <a:avLst>
              <a:gd name="adj" fmla="val 166667"/>
            </a:avLst>
          </a:prstGeom>
          <a:solidFill>
            <a:srgbClr val="E8EFF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68172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concluída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59736" y="2103120"/>
            <a:ext cx="1764792" cy="3063240"/>
          </a:xfrm>
          <a:prstGeom prst="roundRect">
            <a:avLst>
              <a:gd name="adj" fmla="val 518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24328" y="2267712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24328" y="2542032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20–31/07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24328" y="2926080"/>
            <a:ext cx="1435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+ Lead, Tarefa, Funil, Inteligência e dado real (exibição)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24328" y="4681728"/>
            <a:ext cx="1435608" cy="274320"/>
          </a:xfrm>
          <a:prstGeom prst="roundRect">
            <a:avLst>
              <a:gd name="adj" fmla="val 166667"/>
            </a:avLst>
          </a:prstGeom>
          <a:solidFill>
            <a:srgbClr val="2053CE"/>
          </a:solidFill>
          <a:ln/>
        </p:spPr>
      </p:sp>
      <p:sp>
        <p:nvSpPr>
          <p:cNvPr id="15" name="Text 13"/>
          <p:cNvSpPr/>
          <p:nvPr/>
        </p:nvSpPr>
        <p:spPr>
          <a:xfrm>
            <a:off x="2624328" y="468172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estamos aqui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52544" y="2103120"/>
            <a:ext cx="1764792" cy="3063240"/>
          </a:xfrm>
          <a:prstGeom prst="roundRect">
            <a:avLst>
              <a:gd name="adj" fmla="val 5181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7136" y="2267712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17136" y="2542032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03–14/08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17136" y="2926080"/>
            <a:ext cx="1435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completo (proximidade e fotos) + decisão de banco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45352" y="2103120"/>
            <a:ext cx="1764792" cy="3063240"/>
          </a:xfrm>
          <a:prstGeom prst="roundRect">
            <a:avLst>
              <a:gd name="adj" fmla="val 5181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2267712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9944" y="2542032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17–28/08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9944" y="2926080"/>
            <a:ext cx="1435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pé, rotas simples e a versão na mão de um vendedor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2103120"/>
            <a:ext cx="1764792" cy="3063240"/>
          </a:xfrm>
          <a:prstGeom prst="roundRect">
            <a:avLst>
              <a:gd name="adj" fmla="val 5181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2752" y="2267712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02752" y="2542032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31/08–11/09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02752" y="2926080"/>
            <a:ext cx="1435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funil e tarefas, automações n8n e piloto PE/CE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030968" y="2103120"/>
            <a:ext cx="1764792" cy="3063240"/>
          </a:xfrm>
          <a:prstGeom prst="roundRect">
            <a:avLst>
              <a:gd name="adj" fmla="val 5181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95560" y="2267712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195560" y="2542032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14–25/09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195560" y="2926080"/>
            <a:ext cx="1435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 campo real (2º gate) e relatório com backlog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5650992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documentação é escrita junto com cada fatia, não depois — é o que impede o conhecimento de ficar preso numa cabeça só.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5989320"/>
            <a:ext cx="11057839" cy="502920"/>
          </a:xfrm>
          <a:prstGeom prst="roundRect">
            <a:avLst>
              <a:gd name="adj" fmla="val 18182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5989320"/>
            <a:ext cx="105091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gate de hoje: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fecha a decisão de banco · Fase 4 põe a versão na mão de um vendedor de verdade · Fase 6 é o segundo gate, com vocês, em campo.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INTERATIVA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Agora, ao vivo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17556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momentos, ~12 minutos — cada um mata uma das dores.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395728"/>
            <a:ext cx="6903720" cy="621792"/>
          </a:xfrm>
          <a:prstGeom prst="roundRect">
            <a:avLst>
              <a:gd name="adj" fmla="val 14706"/>
            </a:avLst>
          </a:prstGeom>
          <a:solidFill>
            <a:srgbClr val="16234A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2542032"/>
            <a:ext cx="329184" cy="329184"/>
          </a:xfrm>
          <a:prstGeom prst="ellipse">
            <a:avLst/>
          </a:prstGeom>
          <a:solidFill>
            <a:srgbClr val="2053CE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25296" y="23957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e em quem confiar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6903720" cy="621792"/>
          </a:xfrm>
          <a:prstGeom prst="roundRect">
            <a:avLst>
              <a:gd name="adj" fmla="val 14706"/>
            </a:avLst>
          </a:prstGeom>
          <a:solidFill>
            <a:srgbClr val="16234A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" y="3255264"/>
            <a:ext cx="329184" cy="329184"/>
          </a:xfrm>
          <a:prstGeom prst="ellipse">
            <a:avLst/>
          </a:prstGeom>
          <a:solidFill>
            <a:srgbClr val="2053CE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25296" y="310896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toques para a rota da manhã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3822192"/>
            <a:ext cx="6903720" cy="621792"/>
          </a:xfrm>
          <a:prstGeom prst="roundRect">
            <a:avLst>
              <a:gd name="adj" fmla="val 14706"/>
            </a:avLst>
          </a:prstGeom>
          <a:solidFill>
            <a:srgbClr val="162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" y="3968496"/>
            <a:ext cx="329184" cy="329184"/>
          </a:xfrm>
          <a:prstGeom prst="ellipse">
            <a:avLst/>
          </a:prstGeom>
          <a:solidFill>
            <a:srgbClr val="2053CE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25296" y="382219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pin: ficha, notas e a visita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66928" y="4535424"/>
            <a:ext cx="6903720" cy="621792"/>
          </a:xfrm>
          <a:prstGeom prst="roundRect">
            <a:avLst>
              <a:gd name="adj" fmla="val 14706"/>
            </a:avLst>
          </a:prstGeom>
          <a:solidFill>
            <a:srgbClr val="162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" y="4681728"/>
            <a:ext cx="329184" cy="329184"/>
          </a:xfrm>
          <a:prstGeom prst="ellipse">
            <a:avLst/>
          </a:prstGeom>
          <a:solidFill>
            <a:srgbClr val="2053CE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4681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25296" y="453542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e Inteligência: um dado, três formas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66928" y="5248656"/>
            <a:ext cx="6903720" cy="621792"/>
          </a:xfrm>
          <a:prstGeom prst="roundRect">
            <a:avLst>
              <a:gd name="adj" fmla="val 14706"/>
            </a:avLst>
          </a:prstGeom>
          <a:solidFill>
            <a:srgbClr val="162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68096" y="5394960"/>
            <a:ext cx="329184" cy="329184"/>
          </a:xfrm>
          <a:prstGeom prst="ellipse">
            <a:avLst/>
          </a:prstGeom>
          <a:solidFill>
            <a:srgbClr val="2053CE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25296" y="5248656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visão da liderança — e desqualificar sem perder o pin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001000" y="1417320"/>
            <a:ext cx="3639312" cy="406908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pic>
        <p:nvPicPr>
          <p:cNvPr id="26" name="Image 0" descr="C:\Users\FS RENTAL\AppData\Local\Temp\claude\C--Users-FS-RENTAL-Documents-crm-externo\7ca79f68-bece-4d70-bb82-ba870ff79993\scratchpad\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28" y="1691640"/>
            <a:ext cx="2057400" cy="20574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183880" y="3840480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no seu celular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183880" y="4169664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tatianaaires-ship-it.github.io/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crm-externo-mapa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183880" y="4846320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 como app: ⋮ → Adicionar à tela inicial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001000" y="557784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login o app mostra dados fictícios. Com a conta @praso.com.br, ele passa a mostrar os 6.914 leads reais do Salesforce (só exibição).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65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MOMENTO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e em quem confiar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6903720" cy="4069080"/>
          </a:xfrm>
          <a:prstGeom prst="roundRect">
            <a:avLst>
              <a:gd name="adj" fmla="val 2247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93852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mostro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77824" y="243230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16736" y="239572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app instalado — o mapa abre no Brasil inteiro e navega até Recife.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77824" y="307238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16736" y="303580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Aproximar: as bolhas de cluster quebram em pins individuais.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7824" y="371246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16736" y="367588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 Legenda (canto inferior esquerdo): cor = relação comercial (azul cliente, lilás lead).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7824" y="435254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16736" y="431596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a pista de forma: tracejado = base de CNPJ · G = enriquecido pelo Google · ✓ = validado em campo.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7824" y="499262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4992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16736" y="495604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a nota de procedência da legenda: no fictício ela é âmbar; no dado real, verde.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18120" y="1755648"/>
            <a:ext cx="3803904" cy="2103120"/>
          </a:xfrm>
          <a:prstGeom prst="roundRect">
            <a:avLst>
              <a:gd name="adj" fmla="val 434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10728" y="1920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que isso mata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10728" y="22128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que cai em endereço vazio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10728" y="28346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pin diz o quanto ele merece confiança antes de eu sair de casa — em dois códigos independentes, sem depender de cor para tudo.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18120" y="4023360"/>
            <a:ext cx="3803904" cy="1801368"/>
          </a:xfrm>
          <a:prstGeom prst="roundRect">
            <a:avLst>
              <a:gd name="adj" fmla="val 5076"/>
            </a:avLst>
          </a:prstGeom>
          <a:solidFill>
            <a:srgbClr val="F2F6FF"/>
          </a:solidFill>
          <a:ln w="12700">
            <a:solidFill>
              <a:srgbClr val="D3E0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0728" y="4187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Frase-chave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10728" y="4498848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pin não finge certeza: ele mostra de onde veio o dado — e quem confirma no topo da escada é o vendedor.”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6035040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1 de 5 · o roteiro completo, com os cuidados, está nas notas deste slide.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MOMENTO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toques para a rota da manhã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6903720" cy="4069080"/>
          </a:xfrm>
          <a:prstGeom prst="roundRect">
            <a:avLst>
              <a:gd name="adj" fmla="val 2247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93852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mostro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77824" y="243230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16736" y="239572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Tocar em 🏆 Aquisição: liga quatro filtros de uma vez e sobram 29 dos 61 pins.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77824" y="307238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16736" y="303580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painel Filtros: os chips do preset aparecem marcados — a regra fica visível, não escondida.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7824" y="371246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16736" y="367588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Tocar em 🏷️ Classificação → Padaria: o caso real "quero só padarias agora".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7824" y="435254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16736" y="431596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📌 Não visitados 30+ e acompanhar o contador no topo.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7824" y="499262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4992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16736" y="495604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Mexer num chip do preset: o destaque dourado se apaga sozinho, porque o estado é derivado.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18120" y="1755648"/>
            <a:ext cx="3803904" cy="2103120"/>
          </a:xfrm>
          <a:prstGeom prst="roundRect">
            <a:avLst>
              <a:gd name="adj" fmla="val 434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10728" y="1920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que isso mata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10728" y="22128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pin por pin para achar padaria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10728" y="28346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filtro, não camada empilhada: AND entre dimensões, OR dentro de cada uma. O mesmo conjunto filtrado alimenta o mapa, a Inteligência, o Funil e as Atividades.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18120" y="4023360"/>
            <a:ext cx="3803904" cy="1801368"/>
          </a:xfrm>
          <a:prstGeom prst="roundRect">
            <a:avLst>
              <a:gd name="adj" fmla="val 5076"/>
            </a:avLst>
          </a:prstGeom>
          <a:solidFill>
            <a:srgbClr val="F2F6FF"/>
          </a:solidFill>
          <a:ln w="12700">
            <a:solidFill>
              <a:srgbClr val="D3E0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0728" y="4187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Frase-chave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10728" y="4498848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preset não esconde a regra — ele marca os chips. Você vê que MEI ficou de fora e pode desfazer.”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6035040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2 de 5 · o roteiro completo, com os cuidados, está nas notas deste slide.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MOMENTO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pin: ficha, notas e a visita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6903720" cy="4069080"/>
          </a:xfrm>
          <a:prstGeom prst="roundRect">
            <a:avLst>
              <a:gd name="adj" fmla="val 2247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93852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mostro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77824" y="243230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16736" y="23957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Tocar num pin: ficha com qualidade e porte — nenhum deles digitado, todos derivados.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77824" y="298094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2980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16736" y="294436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as notas do estabelecimento: sempre visíveis, nenhuma camada as esconde.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7824" y="352958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16736" y="349300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Check-in em um toque — existe em todo pin, com plano ou sem.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7824" y="407822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16736" y="404164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Check-out: desfecho, "Vendeu?", motivo de não venda e notas da visita.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7824" y="462686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16736" y="45902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das 3 últimas atividades e "Ver todas". Depois: mover o pin (arrastar) → vira validado em campo.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77824" y="517550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5175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16736" y="51389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 ＋ → criar um lead novo com o mínimo: nome + local no mapa.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818120" y="1755648"/>
            <a:ext cx="3803904" cy="2103120"/>
          </a:xfrm>
          <a:prstGeom prst="roundRect">
            <a:avLst>
              <a:gd name="adj" fmla="val 434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10728" y="1920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que isso mata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10728" y="22128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que desaparece e informação sem lugar para morar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10728" y="28346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é invariante do produto: nenhum estado a esconde. E a visita não é um registro solto — o check-in é a própria tarefa sendo executada.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818120" y="4023360"/>
            <a:ext cx="3803904" cy="1801368"/>
          </a:xfrm>
          <a:prstGeom prst="roundRect">
            <a:avLst>
              <a:gd name="adj" fmla="val 5076"/>
            </a:avLst>
          </a:prstGeom>
          <a:solidFill>
            <a:srgbClr val="F2F6FF"/>
          </a:solidFill>
          <a:ln w="12700">
            <a:solidFill>
              <a:srgbClr val="D3E0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4187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Frase-chave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10728" y="4498848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“Corrigir a posição do pin promove o ponto a validado em campo. Quem vê, corrige.”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6928" y="6035040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3 de 5 · o roteiro completo, com os cuidados, está nas notas deste slide.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MOMENTO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e Inteligência: um dado, três formas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6903720" cy="4069080"/>
          </a:xfrm>
          <a:prstGeom prst="roundRect">
            <a:avLst>
              <a:gd name="adj" fmla="val 2247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93852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mostro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77824" y="243230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16736" y="239572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📋 Intel.: buscar por nome, razão social ou CNPJ; tocar num lead foca e abre o pin no mapa.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77824" y="307238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16736" y="303580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que os filtros do mapa continuam valendo na lista — é o mesmo conjunto.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7824" y="371246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16736" y="367588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📊 Funil: sete colunas, arrastar um card entre etapas.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7824" y="435254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16736" y="431596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as duas saídas laterais: perdido e desqualificado — terminais, mas revisáveis.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7824" y="499262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4992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16736" y="495604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a regra: a fase nunca é digitada. Ela vem da tarefa concluída e do ERP.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18120" y="1755648"/>
            <a:ext cx="3803904" cy="2103120"/>
          </a:xfrm>
          <a:prstGeom prst="roundRect">
            <a:avLst>
              <a:gd name="adj" fmla="val 434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10728" y="1920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que isso mata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10728" y="22128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visão de funil para planejar a semana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10728" y="28346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vendedor passa a ver onde cada ponto está no trabalho, e a liderança passa a ver o pipeline sem pedir print no grupo.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18120" y="4023360"/>
            <a:ext cx="3803904" cy="1801368"/>
          </a:xfrm>
          <a:prstGeom prst="roundRect">
            <a:avLst>
              <a:gd name="adj" fmla="val 5076"/>
            </a:avLst>
          </a:prstGeom>
          <a:solidFill>
            <a:srgbClr val="F2F6FF"/>
          </a:solidFill>
          <a:ln w="12700">
            <a:solidFill>
              <a:srgbClr val="D3E0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0728" y="4187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Frase-chave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10728" y="4498848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“Conversão não é fato de campo: o vendedor não decide que alguém virou cliente — cadastro e pedido decidem.”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6035040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4 de 5 · o roteiro completo, com os cuidados, está nas notas deste slide.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MOMENTO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visão da liderança — e desqualificar sem perder o pin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6903720" cy="4069080"/>
          </a:xfrm>
          <a:prstGeom prst="roundRect">
            <a:avLst>
              <a:gd name="adj" fmla="val 2247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93852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mostro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77824" y="243230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16736" y="23957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🗓️ Atividades → Gerencial: funil de execução (planejadas → realizadas → TD encontrado).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77824" y="298094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2980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16736" y="294436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em barra empilhada, quebra por vendedor e pivô vendedor × tipo.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7824" y="352958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16736" y="349300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por dia nos últimos 7 dias — o ritmo de campo do time.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7824" y="407822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16736" y="404164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Tocar em qualquer número: ele filtra a tabela detalhada embaixo, ordenável por qualquer coluna.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7824" y="462686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16736" y="45902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Agenda: atrasadas em bloco fixo no topo, fora do filtro de período; depois, agrupadas por dia.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77824" y="5175504"/>
            <a:ext cx="292608" cy="29260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5175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16736" y="51389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 uma tarefa como desqualificado, com motivo → o pin segue visível no mapa.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818120" y="1755648"/>
            <a:ext cx="3803904" cy="2103120"/>
          </a:xfrm>
          <a:prstGeom prst="roundRect">
            <a:avLst>
              <a:gd name="adj" fmla="val 434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10728" y="1920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que isso mata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10728" y="22128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gestão não vê nada e acaba cobrando no escuro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10728" y="28346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ao lado da execução, por período, vendedor, tipo e check-in — com a lista detalhada atrás de cada agregado.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818120" y="4023360"/>
            <a:ext cx="3803904" cy="1801368"/>
          </a:xfrm>
          <a:prstGeom prst="roundRect">
            <a:avLst>
              <a:gd name="adj" fmla="val 5076"/>
            </a:avLst>
          </a:prstGeom>
          <a:solidFill>
            <a:srgbClr val="F2F6FF"/>
          </a:solidFill>
          <a:ln w="12700">
            <a:solidFill>
              <a:srgbClr val="D3E0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4187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A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Frase-chave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10728" y="4498848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pin nunca some. Desqualificar é estado revisável, e voltar também exige tarefa — não é um toque solto.”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6928" y="6035040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5 de 5 · o roteiro completo, com os cuidados, está nas notas deste slide.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05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DO PROJETO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ainda não está resolvido — e está nomeado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541264" cy="1810512"/>
          </a:xfrm>
          <a:prstGeom prst="roundRect">
            <a:avLst>
              <a:gd name="adj" fmla="val 5051"/>
            </a:avLst>
          </a:prstGeom>
          <a:solidFill>
            <a:srgbClr val="FDF4EC"/>
          </a:solidFill>
          <a:ln w="12700">
            <a:solidFill>
              <a:srgbClr val="F0D6B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93392"/>
            <a:ext cx="502920" cy="502920"/>
          </a:xfrm>
          <a:prstGeom prst="ellipse">
            <a:avLst/>
          </a:prstGeom>
          <a:solidFill>
            <a:srgbClr val="F7E4D3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</a:rPr>
              <a:t>⚠️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463040" y="1975104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CNPJá × Google é o risco nº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596896"/>
            <a:ext cx="4992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7A4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cruzamento gerar falso positivo, o produto piora a desconfiança em vez de curar. Defesa dupla: mostrar a confiança na cara do pin e validar o matching com revisão manual no piloto — é gate de expansão, não detalhe.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28232" y="1737360"/>
            <a:ext cx="5541264" cy="1810512"/>
          </a:xfrm>
          <a:prstGeom prst="roundRect">
            <a:avLst>
              <a:gd name="adj" fmla="val 5051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02552" y="1993392"/>
            <a:ext cx="502920" cy="502920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1" name="Text 9"/>
          <p:cNvSpPr/>
          <p:nvPr/>
        </p:nvSpPr>
        <p:spPr>
          <a:xfrm>
            <a:off x="6702552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</a:rPr>
              <a:t>📉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7324344" y="1975104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do vendedor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02552" y="2596896"/>
            <a:ext cx="4992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hábito hoje é não confiar no sistema. Mitigação: a versão vai para a mão de um vendedor já na Fase 4, e o atrito que ele apontar é corrigido antes de espalhar.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803904"/>
            <a:ext cx="5541264" cy="1810512"/>
          </a:xfrm>
          <a:prstGeom prst="roundRect">
            <a:avLst>
              <a:gd name="adj" fmla="val 5051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059936"/>
            <a:ext cx="502920" cy="502920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</a:rPr>
              <a:t>🗄️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1463040" y="4041648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operacional em aberto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4663440"/>
            <a:ext cx="4992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próprio × warehouse do time de tech. Afeta RLS, PostGIS e velocidade de iteração. Gate na Fase 3: decidir antes de subir na Fase 4.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28232" y="3803904"/>
            <a:ext cx="5541264" cy="1810512"/>
          </a:xfrm>
          <a:prstGeom prst="roundRect">
            <a:avLst>
              <a:gd name="adj" fmla="val 5051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02552" y="4059936"/>
            <a:ext cx="502920" cy="502920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1" name="Text 19"/>
          <p:cNvSpPr/>
          <p:nvPr/>
        </p:nvSpPr>
        <p:spPr>
          <a:xfrm>
            <a:off x="6702552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000000"/>
                </a:solidFill>
              </a:rPr>
              <a:t>📶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7324344" y="4041648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modo offline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02552" y="4663440"/>
            <a:ext cx="4992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precisa de internet no lançamento — trade-off aceito. Se a falta de sinal deixar o vendedor na mão no piloto, offline entra no roadmap com prioridade.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742432"/>
            <a:ext cx="11057839" cy="6858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" y="5742432"/>
            <a:ext cx="104726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🕒  E um prazo que não é nosso: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Salesforce sai em fev/2027 e leva com ele o geocoding (endereço → coordenada) e a regra de atribuição de zona. Nenhum substituto contratado — o plano é geocoding via API e atribuição por fluxo n8n sob nosso controle.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eu levo daqui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5943600" cy="1024128"/>
          </a:xfrm>
          <a:prstGeom prst="roundRect">
            <a:avLst>
              <a:gd name="adj" fmla="val 8929"/>
            </a:avLst>
          </a:prstGeom>
          <a:solidFill>
            <a:srgbClr val="16234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12848"/>
            <a:ext cx="438912" cy="438912"/>
          </a:xfrm>
          <a:prstGeom prst="ellipse">
            <a:avLst/>
          </a:prstGeom>
          <a:solidFill>
            <a:srgbClr val="2053C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26464" y="20665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verde formal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26464" y="23957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FB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de Planejamento e Supervisão para seguir na construção do produto real.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3054096"/>
            <a:ext cx="5943600" cy="1024128"/>
          </a:xfrm>
          <a:prstGeom prst="roundRect">
            <a:avLst>
              <a:gd name="adj" fmla="val 8929"/>
            </a:avLst>
          </a:prstGeom>
          <a:solidFill>
            <a:srgbClr val="16234A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346704"/>
            <a:ext cx="438912" cy="438912"/>
          </a:xfrm>
          <a:prstGeom prst="ellipse">
            <a:avLst/>
          </a:prstGeom>
          <a:solidFill>
            <a:srgbClr val="2053C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46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26464" y="32004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às quatro perguntas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26464" y="35295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FB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lado — são elas que viram ajuste de escopo nas próximas fatias.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87952"/>
            <a:ext cx="5943600" cy="1024128"/>
          </a:xfrm>
          <a:prstGeom prst="roundRect">
            <a:avLst>
              <a:gd name="adj" fmla="val 8929"/>
            </a:avLst>
          </a:prstGeom>
          <a:solidFill>
            <a:srgbClr val="162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480560"/>
            <a:ext cx="438912" cy="438912"/>
          </a:xfrm>
          <a:prstGeom prst="ellipse">
            <a:avLst/>
          </a:prstGeom>
          <a:solidFill>
            <a:srgbClr val="2053C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80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33425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vendedor por zona (PE e CE)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26464" y="4663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FB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usar de verdade a partir da Fase 4, não para testar.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1920240"/>
            <a:ext cx="4718304" cy="3200400"/>
          </a:xfrm>
          <a:prstGeom prst="roundRect">
            <a:avLst>
              <a:gd name="adj" fmla="val 2857"/>
            </a:avLst>
          </a:prstGeom>
          <a:solidFill>
            <a:srgbClr val="2053CE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2376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quatro perguntas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223760" y="2578608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DC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filtro resolve o “quero só padarias agora” do jeito que vocês pediriam?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DC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escada de origem (tracejado · G · ✓) diz o que vocês precisam saber antes de mandar o time para a rua?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DC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alguma coluna na visão gerencial para vocês pararem de pedir print no grupo?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DC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faltar tempo até 25/09, vocês cortariam de baixo para cima como está no slide de prioridade?</a:t>
            </a:r>
            <a:endParaRPr lang="en-US" sz="1250" dirty="0"/>
          </a:p>
        </p:txBody>
      </p:sp>
      <p:pic>
        <p:nvPicPr>
          <p:cNvPr id="22" name="Image 0" descr="C:\Users\FS RENTAL\AppData\Local\Temp\claude\C--Users-FS-RENTAL-Documents-crm-externo\7ca79f68-bece-4d70-bb82-ba870ff79993\scratchpad\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440680"/>
            <a:ext cx="868680" cy="8686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18488" y="55321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tatianaaires-ship-it.github.io/crm-externo-mapa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618488" y="58338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Instalável no Android · dado fictício por padrão · dado real com conta @praso.com.br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03720" y="5440680"/>
            <a:ext cx="4718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Documentação: Levantamento de Necessidades · Product Brief · PR-FAQ · SPEC · Modelo de dados  (Notion · REVOPS)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11167567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65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Praso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Praso Maps — Protótipo do mapa (apresentação às supervisões comerciais)</dc:title>
  <dc:subject>PptxGenJS Presentation</dc:subject>
  <dc:creator>Tatiana Aires — RevOps / Planejamento, Praso</dc:creator>
  <cp:lastModifiedBy>Tatiana Aires — RevOps / Planejamento, Praso</cp:lastModifiedBy>
  <cp:revision>1</cp:revision>
  <dcterms:created xsi:type="dcterms:W3CDTF">2026-07-29T16:47:42Z</dcterms:created>
  <dcterms:modified xsi:type="dcterms:W3CDTF">2026-07-29T16:47:42Z</dcterms:modified>
</cp:coreProperties>
</file>